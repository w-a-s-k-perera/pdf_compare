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 Bold" charset="1" panose="020B0803030501040103"/>
      <p:regular r:id="rId18"/>
    </p:embeddedFont>
    <p:embeddedFont>
      <p:font typeface="Poppins Bold" charset="1" panose="00000800000000000000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learn.microsoft.com/en-us/azure/ai-services/what-are-ai-services?utm_source=chatgpt.com" TargetMode="External" Type="http://schemas.openxmlformats.org/officeDocument/2006/relationships/hyperlink"/><Relationship Id="rId3" Target="https://learn.microsoft.com/en-us/azure/ai-services/document-intelligence" TargetMode="External" Type="http://schemas.openxmlformats.org/officeDocument/2006/relationships/hyperlink"/><Relationship Id="rId4" Target="https://learn.microsoft.com/en-us/azure/storage/blobs" TargetMode="External" Type="http://schemas.openxmlformats.org/officeDocument/2006/relationships/hyperlink"/><Relationship Id="rId5" Target="https://learn.microsoft.com/en-us/azure/azure-functions" TargetMode="External" Type="http://schemas.openxmlformats.org/officeDocument/2006/relationships/hyperlink"/><Relationship Id="rId6" Target="https://learn.microsoft.com/en-us/azure/ai-services/text-analytics" TargetMode="External" Type="http://schemas.openxmlformats.org/officeDocument/2006/relationships/hyperlink"/><Relationship Id="rId7" Target="https://learn.microsoft.com/en-us/azure/ai-services/computer-vision" TargetMode="External" Type="http://schemas.openxmlformats.org/officeDocument/2006/relationships/hyperlink"/><Relationship Id="rId8" Target="https://learn.microsoft.com/en-us/azure/ai-services/computer-vision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611945">
            <a:off x="14458950" y="4723039"/>
            <a:ext cx="7658100" cy="5426529"/>
            <a:chOff x="0" y="0"/>
            <a:chExt cx="2016948" cy="1429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6948" cy="1429209"/>
            </a:xfrm>
            <a:custGeom>
              <a:avLst/>
              <a:gdLst/>
              <a:ahLst/>
              <a:cxnLst/>
              <a:rect r="r" b="b" t="t" l="l"/>
              <a:pathLst>
                <a:path h="1429209" w="2016948">
                  <a:moveTo>
                    <a:pt x="51558" y="0"/>
                  </a:moveTo>
                  <a:lnTo>
                    <a:pt x="1965390" y="0"/>
                  </a:lnTo>
                  <a:cubicBezTo>
                    <a:pt x="1979064" y="0"/>
                    <a:pt x="1992178" y="5432"/>
                    <a:pt x="2001847" y="15101"/>
                  </a:cubicBezTo>
                  <a:cubicBezTo>
                    <a:pt x="2011516" y="24770"/>
                    <a:pt x="2016948" y="37884"/>
                    <a:pt x="2016948" y="51558"/>
                  </a:cubicBezTo>
                  <a:lnTo>
                    <a:pt x="2016948" y="1377651"/>
                  </a:lnTo>
                  <a:cubicBezTo>
                    <a:pt x="2016948" y="1391325"/>
                    <a:pt x="2011516" y="1404439"/>
                    <a:pt x="2001847" y="1414108"/>
                  </a:cubicBezTo>
                  <a:cubicBezTo>
                    <a:pt x="1992178" y="1423777"/>
                    <a:pt x="1979064" y="1429209"/>
                    <a:pt x="1965390" y="1429209"/>
                  </a:cubicBezTo>
                  <a:lnTo>
                    <a:pt x="51558" y="1429209"/>
                  </a:lnTo>
                  <a:cubicBezTo>
                    <a:pt x="37884" y="1429209"/>
                    <a:pt x="24770" y="1423777"/>
                    <a:pt x="15101" y="1414108"/>
                  </a:cubicBezTo>
                  <a:cubicBezTo>
                    <a:pt x="5432" y="1404439"/>
                    <a:pt x="0" y="1391325"/>
                    <a:pt x="0" y="1377651"/>
                  </a:cubicBezTo>
                  <a:lnTo>
                    <a:pt x="0" y="51558"/>
                  </a:lnTo>
                  <a:cubicBezTo>
                    <a:pt x="0" y="37884"/>
                    <a:pt x="5432" y="24770"/>
                    <a:pt x="15101" y="15101"/>
                  </a:cubicBezTo>
                  <a:cubicBezTo>
                    <a:pt x="24770" y="5432"/>
                    <a:pt x="37884" y="0"/>
                    <a:pt x="51558" y="0"/>
                  </a:cubicBezTo>
                  <a:close/>
                </a:path>
              </a:pathLst>
            </a:custGeom>
            <a:solidFill>
              <a:srgbClr val="59819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2016948" cy="1762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2611945">
            <a:off x="-614581" y="-1866767"/>
            <a:ext cx="3031341" cy="2798456"/>
            <a:chOff x="0" y="0"/>
            <a:chExt cx="798378" cy="7370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8378" cy="737042"/>
            </a:xfrm>
            <a:custGeom>
              <a:avLst/>
              <a:gdLst/>
              <a:ahLst/>
              <a:cxnLst/>
              <a:rect r="r" b="b" t="t" l="l"/>
              <a:pathLst>
                <a:path h="737042" w="798378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59819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611945">
            <a:off x="12055325" y="9566947"/>
            <a:ext cx="3031341" cy="2798456"/>
            <a:chOff x="0" y="0"/>
            <a:chExt cx="798378" cy="7370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8378" cy="737042"/>
            </a:xfrm>
            <a:custGeom>
              <a:avLst/>
              <a:gdLst/>
              <a:ahLst/>
              <a:cxnLst/>
              <a:rect r="r" b="b" t="t" l="l"/>
              <a:pathLst>
                <a:path h="737042" w="798378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86B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611945">
            <a:off x="12744473" y="42362"/>
            <a:ext cx="8101900" cy="3702724"/>
            <a:chOff x="0" y="0"/>
            <a:chExt cx="2133834" cy="9752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3834" cy="975203"/>
            </a:xfrm>
            <a:custGeom>
              <a:avLst/>
              <a:gdLst/>
              <a:ahLst/>
              <a:cxnLst/>
              <a:rect r="r" b="b" t="t" l="l"/>
              <a:pathLst>
                <a:path h="975203" w="2133834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86B4C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390795"/>
            <a:ext cx="12154873" cy="575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6"/>
              </a:lnSpc>
            </a:pPr>
            <a:r>
              <a:rPr lang="en-US" b="true" sz="10947">
                <a:solidFill>
                  <a:srgbClr val="12202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AI-DRIVEN </a:t>
            </a:r>
          </a:p>
          <a:p>
            <a:pPr algn="l">
              <a:lnSpc>
                <a:spcPts val="15326"/>
              </a:lnSpc>
            </a:pPr>
            <a:r>
              <a:rPr lang="en-US" sz="10947" b="true">
                <a:solidFill>
                  <a:srgbClr val="59819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PDF DOCUMENT COMPARISON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34255" y="7794317"/>
            <a:ext cx="760308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134" b="true">
                <a:solidFill>
                  <a:srgbClr val="598196"/>
                </a:solidFill>
                <a:latin typeface="Poppins Bold"/>
                <a:ea typeface="Poppins Bold"/>
                <a:cs typeface="Poppins Bold"/>
                <a:sym typeface="Poppins Bold"/>
              </a:rPr>
              <a:t>Author &amp; Presenter :</a:t>
            </a:r>
            <a:r>
              <a:rPr lang="en-US" sz="2699" spc="134" b="true">
                <a:solidFill>
                  <a:srgbClr val="2E2E2E"/>
                </a:solidFill>
                <a:latin typeface="Poppins Bold"/>
                <a:ea typeface="Poppins Bold"/>
                <a:cs typeface="Poppins Bold"/>
                <a:sym typeface="Poppins Bold"/>
              </a:rPr>
              <a:t> Sanduni Perera</a:t>
            </a:r>
          </a:p>
        </p:txBody>
      </p:sp>
      <p:grpSp>
        <p:nvGrpSpPr>
          <p:cNvPr name="Group 16" id="16"/>
          <p:cNvGrpSpPr/>
          <p:nvPr/>
        </p:nvGrpSpPr>
        <p:grpSpPr>
          <a:xfrm rot="-2611945">
            <a:off x="10808920" y="-3972270"/>
            <a:ext cx="8101900" cy="3702724"/>
            <a:chOff x="0" y="0"/>
            <a:chExt cx="2133834" cy="9752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3834" cy="975203"/>
            </a:xfrm>
            <a:custGeom>
              <a:avLst/>
              <a:gdLst/>
              <a:ahLst/>
              <a:cxnLst/>
              <a:rect r="r" b="b" t="t" l="l"/>
              <a:pathLst>
                <a:path h="975203" w="2133834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2611945">
            <a:off x="-6128725" y="8307085"/>
            <a:ext cx="8101900" cy="3702724"/>
            <a:chOff x="0" y="0"/>
            <a:chExt cx="2133834" cy="9752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33834" cy="975203"/>
            </a:xfrm>
            <a:custGeom>
              <a:avLst/>
              <a:gdLst/>
              <a:ahLst/>
              <a:cxnLst/>
              <a:rect r="r" b="b" t="t" l="l"/>
              <a:pathLst>
                <a:path h="975203" w="2133834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721483"/>
            <a:ext cx="7719893" cy="6859294"/>
            <a:chOff x="0" y="0"/>
            <a:chExt cx="2033223" cy="18065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3223" cy="1806563"/>
            </a:xfrm>
            <a:custGeom>
              <a:avLst/>
              <a:gdLst/>
              <a:ahLst/>
              <a:cxnLst/>
              <a:rect r="r" b="b" t="t" l="l"/>
              <a:pathLst>
                <a:path h="1806563" w="2033223">
                  <a:moveTo>
                    <a:pt x="51146" y="0"/>
                  </a:moveTo>
                  <a:lnTo>
                    <a:pt x="1982077" y="0"/>
                  </a:lnTo>
                  <a:cubicBezTo>
                    <a:pt x="1995642" y="0"/>
                    <a:pt x="2008651" y="5389"/>
                    <a:pt x="2018243" y="14980"/>
                  </a:cubicBezTo>
                  <a:cubicBezTo>
                    <a:pt x="2027835" y="24572"/>
                    <a:pt x="2033223" y="37581"/>
                    <a:pt x="2033223" y="51146"/>
                  </a:cubicBezTo>
                  <a:lnTo>
                    <a:pt x="2033223" y="1755418"/>
                  </a:lnTo>
                  <a:cubicBezTo>
                    <a:pt x="2033223" y="1783665"/>
                    <a:pt x="2010324" y="1806563"/>
                    <a:pt x="1982077" y="1806563"/>
                  </a:cubicBezTo>
                  <a:lnTo>
                    <a:pt x="51146" y="1806563"/>
                  </a:lnTo>
                  <a:cubicBezTo>
                    <a:pt x="22899" y="1806563"/>
                    <a:pt x="0" y="1783665"/>
                    <a:pt x="0" y="1755418"/>
                  </a:cubicBezTo>
                  <a:lnTo>
                    <a:pt x="0" y="51146"/>
                  </a:lnTo>
                  <a:cubicBezTo>
                    <a:pt x="0" y="22899"/>
                    <a:pt x="22899" y="0"/>
                    <a:pt x="51146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2033223" cy="2139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444148" y="2138400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703616" y="2721483"/>
            <a:ext cx="7719893" cy="6859294"/>
            <a:chOff x="0" y="0"/>
            <a:chExt cx="2033223" cy="18065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3223" cy="1806563"/>
            </a:xfrm>
            <a:custGeom>
              <a:avLst/>
              <a:gdLst/>
              <a:ahLst/>
              <a:cxnLst/>
              <a:rect r="r" b="b" t="t" l="l"/>
              <a:pathLst>
                <a:path h="1806563" w="2033223">
                  <a:moveTo>
                    <a:pt x="51146" y="0"/>
                  </a:moveTo>
                  <a:lnTo>
                    <a:pt x="1982077" y="0"/>
                  </a:lnTo>
                  <a:cubicBezTo>
                    <a:pt x="1995642" y="0"/>
                    <a:pt x="2008651" y="5389"/>
                    <a:pt x="2018243" y="14980"/>
                  </a:cubicBezTo>
                  <a:cubicBezTo>
                    <a:pt x="2027835" y="24572"/>
                    <a:pt x="2033223" y="37581"/>
                    <a:pt x="2033223" y="51146"/>
                  </a:cubicBezTo>
                  <a:lnTo>
                    <a:pt x="2033223" y="1755418"/>
                  </a:lnTo>
                  <a:cubicBezTo>
                    <a:pt x="2033223" y="1783665"/>
                    <a:pt x="2010324" y="1806563"/>
                    <a:pt x="1982077" y="1806563"/>
                  </a:cubicBezTo>
                  <a:lnTo>
                    <a:pt x="51146" y="1806563"/>
                  </a:lnTo>
                  <a:cubicBezTo>
                    <a:pt x="22899" y="1806563"/>
                    <a:pt x="0" y="1783665"/>
                    <a:pt x="0" y="1755418"/>
                  </a:cubicBezTo>
                  <a:lnTo>
                    <a:pt x="0" y="51146"/>
                  </a:lnTo>
                  <a:cubicBezTo>
                    <a:pt x="0" y="22899"/>
                    <a:pt x="22899" y="0"/>
                    <a:pt x="51146" y="0"/>
                  </a:cubicBezTo>
                  <a:close/>
                </a:path>
              </a:pathLst>
            </a:custGeom>
            <a:solidFill>
              <a:srgbClr val="86B4C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2033223" cy="2139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75087" y="766515"/>
            <a:ext cx="2167995" cy="2342627"/>
          </a:xfrm>
          <a:custGeom>
            <a:avLst/>
            <a:gdLst/>
            <a:ahLst/>
            <a:cxnLst/>
            <a:rect r="r" b="b" t="t" l="l"/>
            <a:pathLst>
              <a:path h="2342627" w="2167995">
                <a:moveTo>
                  <a:pt x="0" y="0"/>
                </a:moveTo>
                <a:lnTo>
                  <a:pt x="2167994" y="0"/>
                </a:lnTo>
                <a:lnTo>
                  <a:pt x="2167994" y="2342627"/>
                </a:lnTo>
                <a:lnTo>
                  <a:pt x="0" y="2342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75160" y="1031674"/>
            <a:ext cx="9288403" cy="90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b="true" sz="6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</a:t>
            </a:r>
            <a:r>
              <a:rPr lang="en-US" b="true" sz="6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blem &amp; Objective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8954" y="4449227"/>
            <a:ext cx="7259384" cy="4352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011"/>
              </a:lnSpc>
              <a:buFont typeface="Arial"/>
              <a:buChar char="•"/>
            </a:pPr>
            <a:r>
              <a:rPr lang="en-US" b="true" sz="2799" spc="159">
                <a:solidFill>
                  <a:srgbClr val="2E2E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Manual comparison of product specifications is time consuming and error prone </a:t>
            </a:r>
          </a:p>
          <a:p>
            <a:pPr algn="l">
              <a:lnSpc>
                <a:spcPts val="5011"/>
              </a:lnSpc>
            </a:pPr>
          </a:p>
          <a:p>
            <a:pPr algn="l" marL="604518" indent="-302259" lvl="1">
              <a:lnSpc>
                <a:spcPts val="5011"/>
              </a:lnSpc>
              <a:buFont typeface="Arial"/>
              <a:buChar char="•"/>
            </a:pPr>
            <a:r>
              <a:rPr lang="en-US" b="true" sz="2799" spc="159">
                <a:solidFill>
                  <a:srgbClr val="2E2E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Differences in text, numeric tables, and images need to be identified accurately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6096" y="3104436"/>
            <a:ext cx="629543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59819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35000" y="3104436"/>
            <a:ext cx="327034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03616" y="4145246"/>
            <a:ext cx="7719893" cy="1728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4675"/>
              </a:lnSpc>
              <a:buFont typeface="Arial"/>
              <a:buChar char="•"/>
            </a:pPr>
            <a:r>
              <a:rPr lang="en-US" b="true" sz="2799" spc="159">
                <a:solidFill>
                  <a:srgbClr val="2E2E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Automatically compare two PDF documents (text, tables, images) and highlight key differences.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35000" y="5998073"/>
            <a:ext cx="148456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03616" y="6961368"/>
            <a:ext cx="7719893" cy="224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4563"/>
              </a:lnSpc>
              <a:buFont typeface="Arial"/>
              <a:buChar char="•"/>
            </a:pPr>
            <a:r>
              <a:rPr lang="en-US" b="true" sz="2799" spc="159">
                <a:solidFill>
                  <a:srgbClr val="2E2E2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Demonstrate AI and Python-based automation for real-world use cases such as product specification validation and version control.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8554506" y="1074189"/>
            <a:ext cx="12204235" cy="6795882"/>
            <a:chOff x="0" y="0"/>
            <a:chExt cx="3214284" cy="17898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14284" cy="1789862"/>
            </a:xfrm>
            <a:custGeom>
              <a:avLst/>
              <a:gdLst/>
              <a:ahLst/>
              <a:cxnLst/>
              <a:rect r="r" b="b" t="t" l="l"/>
              <a:pathLst>
                <a:path h="1789862" w="3214284">
                  <a:moveTo>
                    <a:pt x="32353" y="0"/>
                  </a:moveTo>
                  <a:lnTo>
                    <a:pt x="3181932" y="0"/>
                  </a:lnTo>
                  <a:cubicBezTo>
                    <a:pt x="3190512" y="0"/>
                    <a:pt x="3198741" y="3409"/>
                    <a:pt x="3204808" y="9476"/>
                  </a:cubicBezTo>
                  <a:cubicBezTo>
                    <a:pt x="3210876" y="15543"/>
                    <a:pt x="3214284" y="23772"/>
                    <a:pt x="3214284" y="32353"/>
                  </a:cubicBezTo>
                  <a:lnTo>
                    <a:pt x="3214284" y="1757509"/>
                  </a:lnTo>
                  <a:cubicBezTo>
                    <a:pt x="3214284" y="1766090"/>
                    <a:pt x="3210876" y="1774319"/>
                    <a:pt x="3204808" y="1780386"/>
                  </a:cubicBezTo>
                  <a:cubicBezTo>
                    <a:pt x="3198741" y="1786453"/>
                    <a:pt x="3190512" y="1789862"/>
                    <a:pt x="3181932" y="1789862"/>
                  </a:cubicBezTo>
                  <a:lnTo>
                    <a:pt x="32353" y="1789862"/>
                  </a:lnTo>
                  <a:cubicBezTo>
                    <a:pt x="14485" y="1789862"/>
                    <a:pt x="0" y="1775377"/>
                    <a:pt x="0" y="1757509"/>
                  </a:cubicBezTo>
                  <a:lnTo>
                    <a:pt x="0" y="32353"/>
                  </a:lnTo>
                  <a:cubicBezTo>
                    <a:pt x="0" y="23772"/>
                    <a:pt x="3409" y="15543"/>
                    <a:pt x="9476" y="9476"/>
                  </a:cubicBezTo>
                  <a:cubicBezTo>
                    <a:pt x="15543" y="3409"/>
                    <a:pt x="23772" y="0"/>
                    <a:pt x="32353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214284" cy="212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83605" y="1688149"/>
            <a:ext cx="8701269" cy="8121388"/>
            <a:chOff x="0" y="0"/>
            <a:chExt cx="2291692" cy="2138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1692" cy="2138966"/>
            </a:xfrm>
            <a:custGeom>
              <a:avLst/>
              <a:gdLst/>
              <a:ahLst/>
              <a:cxnLst/>
              <a:rect r="r" b="b" t="t" l="l"/>
              <a:pathLst>
                <a:path h="2138966" w="2291692">
                  <a:moveTo>
                    <a:pt x="45377" y="0"/>
                  </a:moveTo>
                  <a:lnTo>
                    <a:pt x="2246315" y="0"/>
                  </a:lnTo>
                  <a:cubicBezTo>
                    <a:pt x="2271376" y="0"/>
                    <a:pt x="2291692" y="20316"/>
                    <a:pt x="2291692" y="45377"/>
                  </a:cubicBezTo>
                  <a:lnTo>
                    <a:pt x="2291692" y="2093589"/>
                  </a:lnTo>
                  <a:cubicBezTo>
                    <a:pt x="2291692" y="2118650"/>
                    <a:pt x="2271376" y="2138966"/>
                    <a:pt x="2246315" y="2138966"/>
                  </a:cubicBezTo>
                  <a:lnTo>
                    <a:pt x="45377" y="2138966"/>
                  </a:lnTo>
                  <a:cubicBezTo>
                    <a:pt x="20316" y="2138966"/>
                    <a:pt x="0" y="2118650"/>
                    <a:pt x="0" y="2093589"/>
                  </a:cubicBezTo>
                  <a:lnTo>
                    <a:pt x="0" y="45377"/>
                  </a:lnTo>
                  <a:cubicBezTo>
                    <a:pt x="0" y="20316"/>
                    <a:pt x="20316" y="0"/>
                    <a:pt x="45377" y="0"/>
                  </a:cubicBezTo>
                  <a:close/>
                </a:path>
              </a:pathLst>
            </a:custGeom>
            <a:solidFill>
              <a:srgbClr val="59819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2291692" cy="2472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-2185362" y="1766284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668617" y="2132656"/>
            <a:ext cx="7931245" cy="7125644"/>
          </a:xfrm>
          <a:custGeom>
            <a:avLst/>
            <a:gdLst/>
            <a:ahLst/>
            <a:cxnLst/>
            <a:rect r="r" b="b" t="t" l="l"/>
            <a:pathLst>
              <a:path h="7125644" w="7931245">
                <a:moveTo>
                  <a:pt x="0" y="0"/>
                </a:moveTo>
                <a:lnTo>
                  <a:pt x="7931245" y="0"/>
                </a:lnTo>
                <a:lnTo>
                  <a:pt x="7931245" y="7125644"/>
                </a:lnTo>
                <a:lnTo>
                  <a:pt x="0" y="7125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50" t="0" r="-75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1970" y="669599"/>
            <a:ext cx="9936657" cy="97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98196"/>
                </a:solidFill>
                <a:latin typeface="Poppins Bold"/>
                <a:ea typeface="Poppins Bold"/>
                <a:cs typeface="Poppins Bold"/>
                <a:sym typeface="Poppins Bold"/>
              </a:rPr>
              <a:t>SOLUTI</a:t>
            </a:r>
            <a:r>
              <a:rPr lang="en-US" b="true" sz="6800">
                <a:solidFill>
                  <a:srgbClr val="598196"/>
                </a:solidFill>
                <a:latin typeface="Poppins Bold"/>
                <a:ea typeface="Poppins Bold"/>
                <a:cs typeface="Poppins Bold"/>
                <a:sym typeface="Poppins Bold"/>
              </a:rPr>
              <a:t>ON APPROACH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617" y="2122205"/>
            <a:ext cx="8722030" cy="8039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22"/>
              </a:lnSpc>
              <a:buFont typeface="Arial"/>
              <a:buChar char="•"/>
            </a:pPr>
            <a:r>
              <a:rPr lang="en-US" b="true" sz="2699" spc="64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Ext</a:t>
            </a: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ract Data  -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 Extract text, tables, and images from both PDFs using pdfplumber and camelot.</a:t>
            </a:r>
          </a:p>
          <a:p>
            <a:pPr algn="l" marL="582928" indent="-291464" lvl="1">
              <a:lnSpc>
                <a:spcPts val="4022"/>
              </a:lnSpc>
              <a:buFont typeface="Arial"/>
              <a:buChar char="•"/>
            </a:pP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Compare Text -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 Perform section-wise, line-by-line comparison, highlighting differences in red (P001) and green (P002).</a:t>
            </a:r>
          </a:p>
          <a:p>
            <a:pPr algn="l" marL="582928" indent="-291464" lvl="1">
              <a:lnSpc>
                <a:spcPts val="4022"/>
              </a:lnSpc>
              <a:buFont typeface="Arial"/>
              <a:buChar char="•"/>
            </a:pP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Compare Tables -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 Normalize rows/columns and compare numeric and textual values to find differences .</a:t>
            </a:r>
          </a:p>
          <a:p>
            <a:pPr algn="l" marL="582928" indent="-291464" lvl="1">
              <a:lnSpc>
                <a:spcPts val="4022"/>
              </a:lnSpc>
              <a:buFont typeface="Arial"/>
              <a:buChar char="•"/>
            </a:pP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Compare Images -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 Use AI-based similarity techniques (imagehash and SSIM) to assess image differences.</a:t>
            </a:r>
          </a:p>
          <a:p>
            <a:pPr algn="l" marL="582928" indent="-291464" lvl="1">
              <a:lnSpc>
                <a:spcPts val="4022"/>
              </a:lnSpc>
              <a:buFont typeface="Arial"/>
              <a:buChar char="•"/>
            </a:pP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Generate Report -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 Summarize all differences in an HTML report with visual highlights for text, tables, and images.</a:t>
            </a:r>
          </a:p>
          <a:p>
            <a:pPr algn="l" marL="0" indent="0" lvl="0">
              <a:lnSpc>
                <a:spcPts val="36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-7720970" y="1056579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2554262" y="1668136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1753856" y="9614819"/>
            <a:ext cx="5565113" cy="672181"/>
            <a:chOff x="0" y="0"/>
            <a:chExt cx="1465709" cy="1770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5709" cy="177035"/>
            </a:xfrm>
            <a:custGeom>
              <a:avLst/>
              <a:gdLst/>
              <a:ahLst/>
              <a:cxnLst/>
              <a:rect r="r" b="b" t="t" l="l"/>
              <a:pathLst>
                <a:path h="177035" w="1465709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59819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476744" y="0"/>
            <a:ext cx="5565113" cy="672181"/>
            <a:chOff x="0" y="0"/>
            <a:chExt cx="1465709" cy="1770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5709" cy="177035"/>
            </a:xfrm>
            <a:custGeom>
              <a:avLst/>
              <a:gdLst/>
              <a:ahLst/>
              <a:cxnLst/>
              <a:rect r="r" b="b" t="t" l="l"/>
              <a:pathLst>
                <a:path h="177035" w="1465709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59819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2036916"/>
            <a:ext cx="16139524" cy="7350375"/>
            <a:chOff x="0" y="0"/>
            <a:chExt cx="4666757" cy="21253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66757" cy="2125367"/>
            </a:xfrm>
            <a:custGeom>
              <a:avLst/>
              <a:gdLst/>
              <a:ahLst/>
              <a:cxnLst/>
              <a:rect r="r" b="b" t="t" l="l"/>
              <a:pathLst>
                <a:path h="2125367" w="4666757">
                  <a:moveTo>
                    <a:pt x="0" y="0"/>
                  </a:moveTo>
                  <a:lnTo>
                    <a:pt x="4666757" y="0"/>
                  </a:lnTo>
                  <a:lnTo>
                    <a:pt x="4666757" y="2125367"/>
                  </a:lnTo>
                  <a:lnTo>
                    <a:pt x="0" y="2125367"/>
                  </a:lnTo>
                  <a:close/>
                </a:path>
              </a:pathLst>
            </a:custGeom>
            <a:solidFill>
              <a:srgbClr val="86B4C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33375"/>
              <a:ext cx="4666757" cy="2458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703490" y="2291929"/>
            <a:ext cx="14789943" cy="6840349"/>
          </a:xfrm>
          <a:custGeom>
            <a:avLst/>
            <a:gdLst/>
            <a:ahLst/>
            <a:cxnLst/>
            <a:rect r="r" b="b" t="t" l="l"/>
            <a:pathLst>
              <a:path h="6840349" w="14789943">
                <a:moveTo>
                  <a:pt x="0" y="0"/>
                </a:moveTo>
                <a:lnTo>
                  <a:pt x="14789944" y="0"/>
                </a:lnTo>
                <a:lnTo>
                  <a:pt x="14789944" y="6840349"/>
                </a:lnTo>
                <a:lnTo>
                  <a:pt x="0" y="6840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02050" y="681018"/>
            <a:ext cx="14080931" cy="97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</a:t>
            </a: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ults – Text Comparison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-7720970" y="1056579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2554262" y="1668136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02050" y="2036916"/>
            <a:ext cx="17300233" cy="7801843"/>
            <a:chOff x="0" y="0"/>
            <a:chExt cx="5002377" cy="22559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02377" cy="2255910"/>
            </a:xfrm>
            <a:custGeom>
              <a:avLst/>
              <a:gdLst/>
              <a:ahLst/>
              <a:cxnLst/>
              <a:rect r="r" b="b" t="t" l="l"/>
              <a:pathLst>
                <a:path h="2255910" w="5002377">
                  <a:moveTo>
                    <a:pt x="0" y="0"/>
                  </a:moveTo>
                  <a:lnTo>
                    <a:pt x="5002377" y="0"/>
                  </a:lnTo>
                  <a:lnTo>
                    <a:pt x="5002377" y="2255910"/>
                  </a:lnTo>
                  <a:lnTo>
                    <a:pt x="0" y="2255910"/>
                  </a:lnTo>
                  <a:close/>
                </a:path>
              </a:pathLst>
            </a:custGeom>
            <a:solidFill>
              <a:srgbClr val="86B4C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5002377" cy="2589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523" y="2397500"/>
            <a:ext cx="16230777" cy="7080676"/>
          </a:xfrm>
          <a:custGeom>
            <a:avLst/>
            <a:gdLst/>
            <a:ahLst/>
            <a:cxnLst/>
            <a:rect r="r" b="b" t="t" l="l"/>
            <a:pathLst>
              <a:path h="7080676" w="16230777">
                <a:moveTo>
                  <a:pt x="0" y="0"/>
                </a:moveTo>
                <a:lnTo>
                  <a:pt x="16230777" y="0"/>
                </a:lnTo>
                <a:lnTo>
                  <a:pt x="16230777" y="7080676"/>
                </a:lnTo>
                <a:lnTo>
                  <a:pt x="0" y="7080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2050" y="681018"/>
            <a:ext cx="14080931" cy="97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</a:t>
            </a: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ults – Table Comparison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503507">
            <a:off x="-7720970" y="1056579"/>
            <a:ext cx="12583451" cy="7382737"/>
            <a:chOff x="0" y="0"/>
            <a:chExt cx="3314160" cy="1944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2554262" y="1668136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157659" y="2036916"/>
            <a:ext cx="13972682" cy="7923397"/>
            <a:chOff x="0" y="0"/>
            <a:chExt cx="4040213" cy="22910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40213" cy="2291057"/>
            </a:xfrm>
            <a:custGeom>
              <a:avLst/>
              <a:gdLst/>
              <a:ahLst/>
              <a:cxnLst/>
              <a:rect r="r" b="b" t="t" l="l"/>
              <a:pathLst>
                <a:path h="2291057" w="4040213">
                  <a:moveTo>
                    <a:pt x="0" y="0"/>
                  </a:moveTo>
                  <a:lnTo>
                    <a:pt x="4040213" y="0"/>
                  </a:lnTo>
                  <a:lnTo>
                    <a:pt x="4040213" y="2291057"/>
                  </a:lnTo>
                  <a:lnTo>
                    <a:pt x="0" y="2291057"/>
                  </a:lnTo>
                  <a:close/>
                </a:path>
              </a:pathLst>
            </a:custGeom>
            <a:solidFill>
              <a:srgbClr val="86B4C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4040213" cy="2624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221439" y="2297015"/>
            <a:ext cx="11845122" cy="7403201"/>
          </a:xfrm>
          <a:custGeom>
            <a:avLst/>
            <a:gdLst/>
            <a:ahLst/>
            <a:cxnLst/>
            <a:rect r="r" b="b" t="t" l="l"/>
            <a:pathLst>
              <a:path h="7403201" w="11845122">
                <a:moveTo>
                  <a:pt x="0" y="0"/>
                </a:moveTo>
                <a:lnTo>
                  <a:pt x="11845122" y="0"/>
                </a:lnTo>
                <a:lnTo>
                  <a:pt x="11845122" y="7403201"/>
                </a:lnTo>
                <a:lnTo>
                  <a:pt x="0" y="7403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02050" y="681018"/>
            <a:ext cx="14080931" cy="97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</a:t>
            </a: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ults – Image Comparison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80089" y="846995"/>
            <a:ext cx="9894109" cy="8988061"/>
            <a:chOff x="0" y="0"/>
            <a:chExt cx="2605856" cy="23672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5856" cy="2367226"/>
            </a:xfrm>
            <a:custGeom>
              <a:avLst/>
              <a:gdLst/>
              <a:ahLst/>
              <a:cxnLst/>
              <a:rect r="r" b="b" t="t" l="l"/>
              <a:pathLst>
                <a:path h="2367226" w="2605856">
                  <a:moveTo>
                    <a:pt x="0" y="0"/>
                  </a:moveTo>
                  <a:lnTo>
                    <a:pt x="2605856" y="0"/>
                  </a:lnTo>
                  <a:lnTo>
                    <a:pt x="2605856" y="2367226"/>
                  </a:lnTo>
                  <a:lnTo>
                    <a:pt x="0" y="2367226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05856" cy="24148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45472" y="1926692"/>
            <a:ext cx="7167241" cy="3883085"/>
            <a:chOff x="0" y="0"/>
            <a:chExt cx="1887668" cy="10227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7668" cy="1022705"/>
            </a:xfrm>
            <a:custGeom>
              <a:avLst/>
              <a:gdLst/>
              <a:ahLst/>
              <a:cxnLst/>
              <a:rect r="r" b="b" t="t" l="l"/>
              <a:pathLst>
                <a:path h="1022705" w="1887668">
                  <a:moveTo>
                    <a:pt x="55089" y="0"/>
                  </a:moveTo>
                  <a:lnTo>
                    <a:pt x="1832579" y="0"/>
                  </a:lnTo>
                  <a:cubicBezTo>
                    <a:pt x="1863004" y="0"/>
                    <a:pt x="1887668" y="24664"/>
                    <a:pt x="1887668" y="55089"/>
                  </a:cubicBezTo>
                  <a:lnTo>
                    <a:pt x="1887668" y="967616"/>
                  </a:lnTo>
                  <a:cubicBezTo>
                    <a:pt x="1887668" y="982227"/>
                    <a:pt x="1881864" y="996239"/>
                    <a:pt x="1871533" y="1006570"/>
                  </a:cubicBezTo>
                  <a:cubicBezTo>
                    <a:pt x="1861202" y="1016901"/>
                    <a:pt x="1847190" y="1022705"/>
                    <a:pt x="1832579" y="1022705"/>
                  </a:cubicBezTo>
                  <a:lnTo>
                    <a:pt x="55089" y="1022705"/>
                  </a:lnTo>
                  <a:cubicBezTo>
                    <a:pt x="24664" y="1022705"/>
                    <a:pt x="0" y="998041"/>
                    <a:pt x="0" y="967616"/>
                  </a:cubicBezTo>
                  <a:lnTo>
                    <a:pt x="0" y="55089"/>
                  </a:lnTo>
                  <a:cubicBezTo>
                    <a:pt x="0" y="24664"/>
                    <a:pt x="24664" y="0"/>
                    <a:pt x="55089" y="0"/>
                  </a:cubicBezTo>
                  <a:close/>
                </a:path>
              </a:pathLst>
            </a:custGeom>
            <a:solidFill>
              <a:srgbClr val="59819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887668" cy="1356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6813" y="2186112"/>
            <a:ext cx="5493069" cy="338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6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Azure AI Services Fit Into the Solution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6608204" y="3883142"/>
            <a:ext cx="785257" cy="21292"/>
          </a:xfrm>
          <a:prstGeom prst="line">
            <a:avLst/>
          </a:prstGeom>
          <a:ln cap="flat" w="666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" id="10"/>
          <p:cNvGrpSpPr/>
          <p:nvPr/>
        </p:nvGrpSpPr>
        <p:grpSpPr>
          <a:xfrm rot="0">
            <a:off x="7920316" y="1298004"/>
            <a:ext cx="431162" cy="43116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B4C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703234" y="1133449"/>
            <a:ext cx="8191403" cy="150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2"/>
              </a:lnSpc>
            </a:pPr>
            <a:r>
              <a:rPr lang="en-US" b="true" sz="2699" spc="64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orm Recognizer - 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Automatically extracts text, tables, and layout from PDFs, improving accuracy and reducing manual parsing errors.</a:t>
            </a:r>
          </a:p>
        </p:txBody>
      </p:sp>
      <p:grpSp>
        <p:nvGrpSpPr>
          <p:cNvPr name="Group 14" id="14"/>
          <p:cNvGrpSpPr/>
          <p:nvPr/>
        </p:nvGrpSpPr>
        <p:grpSpPr>
          <a:xfrm rot="-3503507">
            <a:off x="-1839914" y="8154245"/>
            <a:ext cx="6972581" cy="4300566"/>
            <a:chOff x="0" y="0"/>
            <a:chExt cx="1836400" cy="11326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6400" cy="1132659"/>
            </a:xfrm>
            <a:custGeom>
              <a:avLst/>
              <a:gdLst/>
              <a:ahLst/>
              <a:cxnLst/>
              <a:rect r="r" b="b" t="t" l="l"/>
              <a:pathLst>
                <a:path h="1132659" w="1836400">
                  <a:moveTo>
                    <a:pt x="56627" y="0"/>
                  </a:moveTo>
                  <a:lnTo>
                    <a:pt x="1779773" y="0"/>
                  </a:lnTo>
                  <a:cubicBezTo>
                    <a:pt x="1794791" y="0"/>
                    <a:pt x="1809195" y="5966"/>
                    <a:pt x="1819814" y="16586"/>
                  </a:cubicBezTo>
                  <a:cubicBezTo>
                    <a:pt x="1830434" y="27205"/>
                    <a:pt x="1836400" y="41609"/>
                    <a:pt x="1836400" y="56627"/>
                  </a:cubicBezTo>
                  <a:lnTo>
                    <a:pt x="1836400" y="1076032"/>
                  </a:lnTo>
                  <a:cubicBezTo>
                    <a:pt x="1836400" y="1107306"/>
                    <a:pt x="1811047" y="1132659"/>
                    <a:pt x="1779773" y="1132659"/>
                  </a:cubicBezTo>
                  <a:lnTo>
                    <a:pt x="56627" y="1132659"/>
                  </a:lnTo>
                  <a:cubicBezTo>
                    <a:pt x="25353" y="1132659"/>
                    <a:pt x="0" y="1107306"/>
                    <a:pt x="0" y="1076032"/>
                  </a:cubicBezTo>
                  <a:lnTo>
                    <a:pt x="0" y="56627"/>
                  </a:lnTo>
                  <a:cubicBezTo>
                    <a:pt x="0" y="25353"/>
                    <a:pt x="25353" y="0"/>
                    <a:pt x="56627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33375"/>
              <a:ext cx="1836400" cy="1466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703234" y="3137915"/>
            <a:ext cx="8282569" cy="2005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2"/>
              </a:lnSpc>
            </a:pPr>
            <a:r>
              <a:rPr lang="en-US" b="true" sz="2699" spc="64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Text</a:t>
            </a: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Analytics (Cognitive Services) - 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Detects key phrases, entities, and semantic differences, enabling smarter comparisons beyond exact string matches.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03234" y="5484947"/>
            <a:ext cx="8191403" cy="150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2"/>
              </a:lnSpc>
            </a:pPr>
            <a:r>
              <a:rPr lang="en-US" b="true" sz="2699" spc="64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omputer Vision - 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Analyzes images, detects differences, and extracts text from scanned PDFs.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03234" y="7328607"/>
            <a:ext cx="8191403" cy="2005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2"/>
              </a:lnSpc>
            </a:pPr>
            <a:r>
              <a:rPr lang="en-US" b="true" sz="2699" spc="64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Azu</a:t>
            </a: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 Functions &amp; Logic Apps - 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Serverless, on-demand processing, triggers automated workflows like email notifications and parallel processing.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920316" y="3537642"/>
            <a:ext cx="431162" cy="43116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B4C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920316" y="5777280"/>
            <a:ext cx="431162" cy="43116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B4C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20316" y="7943100"/>
            <a:ext cx="431162" cy="43116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B4C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-257175"/>
              <a:ext cx="6604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16423" y="1702717"/>
            <a:ext cx="1027639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344434" y="2061261"/>
            <a:ext cx="13909144" cy="7411789"/>
            <a:chOff x="0" y="0"/>
            <a:chExt cx="3663314" cy="19520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63314" cy="1952076"/>
            </a:xfrm>
            <a:custGeom>
              <a:avLst/>
              <a:gdLst/>
              <a:ahLst/>
              <a:cxnLst/>
              <a:rect r="r" b="b" t="t" l="l"/>
              <a:pathLst>
                <a:path h="1952076" w="3663314">
                  <a:moveTo>
                    <a:pt x="28387" y="0"/>
                  </a:moveTo>
                  <a:lnTo>
                    <a:pt x="3634927" y="0"/>
                  </a:lnTo>
                  <a:cubicBezTo>
                    <a:pt x="3642455" y="0"/>
                    <a:pt x="3649676" y="2991"/>
                    <a:pt x="3654999" y="8314"/>
                  </a:cubicBezTo>
                  <a:cubicBezTo>
                    <a:pt x="3660323" y="13638"/>
                    <a:pt x="3663314" y="20858"/>
                    <a:pt x="3663314" y="28387"/>
                  </a:cubicBezTo>
                  <a:lnTo>
                    <a:pt x="3663314" y="1923689"/>
                  </a:lnTo>
                  <a:cubicBezTo>
                    <a:pt x="3663314" y="1939367"/>
                    <a:pt x="3650604" y="1952076"/>
                    <a:pt x="3634927" y="1952076"/>
                  </a:cubicBezTo>
                  <a:lnTo>
                    <a:pt x="28387" y="1952076"/>
                  </a:lnTo>
                  <a:cubicBezTo>
                    <a:pt x="12709" y="1952076"/>
                    <a:pt x="0" y="1939367"/>
                    <a:pt x="0" y="1923689"/>
                  </a:cubicBezTo>
                  <a:lnTo>
                    <a:pt x="0" y="28387"/>
                  </a:lnTo>
                  <a:cubicBezTo>
                    <a:pt x="0" y="12709"/>
                    <a:pt x="12709" y="0"/>
                    <a:pt x="28387" y="0"/>
                  </a:cubicBezTo>
                  <a:close/>
                </a:path>
              </a:pathLst>
            </a:custGeom>
            <a:solidFill>
              <a:srgbClr val="59819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33375"/>
              <a:ext cx="3663314" cy="2285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503507">
            <a:off x="15971842" y="1684952"/>
            <a:ext cx="12583451" cy="7382737"/>
            <a:chOff x="0" y="0"/>
            <a:chExt cx="3314160" cy="19444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3503507">
            <a:off x="-10878133" y="751583"/>
            <a:ext cx="12583451" cy="7382737"/>
            <a:chOff x="0" y="0"/>
            <a:chExt cx="3314160" cy="19444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937972" y="2729762"/>
            <a:ext cx="12722067" cy="6074787"/>
          </a:xfrm>
          <a:custGeom>
            <a:avLst/>
            <a:gdLst/>
            <a:ahLst/>
            <a:cxnLst/>
            <a:rect r="r" b="b" t="t" l="l"/>
            <a:pathLst>
              <a:path h="6074787" w="12722067">
                <a:moveTo>
                  <a:pt x="0" y="0"/>
                </a:moveTo>
                <a:lnTo>
                  <a:pt x="12722067" y="0"/>
                </a:lnTo>
                <a:lnTo>
                  <a:pt x="12722067" y="6074787"/>
                </a:lnTo>
                <a:lnTo>
                  <a:pt x="0" y="6074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16423" y="328854"/>
            <a:ext cx="10511747" cy="122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b="true" sz="6800" spc="639">
                <a:solidFill>
                  <a:srgbClr val="598196"/>
                </a:solidFill>
                <a:latin typeface="Poppins Bold"/>
                <a:ea typeface="Poppins Bold"/>
                <a:cs typeface="Poppins Bold"/>
                <a:sym typeface="Poppins Bold"/>
              </a:rPr>
              <a:t>AZURE WORK FLOW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88981" y="232058"/>
            <a:ext cx="5565113" cy="672181"/>
            <a:chOff x="0" y="0"/>
            <a:chExt cx="1465709" cy="177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5709" cy="177035"/>
            </a:xfrm>
            <a:custGeom>
              <a:avLst/>
              <a:gdLst/>
              <a:ahLst/>
              <a:cxnLst/>
              <a:rect r="r" b="b" t="t" l="l"/>
              <a:pathLst>
                <a:path h="177035" w="1465709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59819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76744" y="9425915"/>
            <a:ext cx="5565113" cy="672181"/>
            <a:chOff x="0" y="0"/>
            <a:chExt cx="1465709" cy="1770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5709" cy="177035"/>
            </a:xfrm>
            <a:custGeom>
              <a:avLst/>
              <a:gdLst/>
              <a:ahLst/>
              <a:cxnLst/>
              <a:rect r="r" b="b" t="t" l="l"/>
              <a:pathLst>
                <a:path h="177035" w="1465709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59819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362539" y="2941930"/>
            <a:ext cx="8918179" cy="1905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406684" y="3137192"/>
            <a:ext cx="17474633" cy="6121108"/>
            <a:chOff x="0" y="0"/>
            <a:chExt cx="4602372" cy="16121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02373" cy="1612144"/>
            </a:xfrm>
            <a:custGeom>
              <a:avLst/>
              <a:gdLst/>
              <a:ahLst/>
              <a:cxnLst/>
              <a:rect r="r" b="b" t="t" l="l"/>
              <a:pathLst>
                <a:path h="1612144" w="4602373">
                  <a:moveTo>
                    <a:pt x="22595" y="0"/>
                  </a:moveTo>
                  <a:lnTo>
                    <a:pt x="4579778" y="0"/>
                  </a:lnTo>
                  <a:cubicBezTo>
                    <a:pt x="4585770" y="0"/>
                    <a:pt x="4591517" y="2381"/>
                    <a:pt x="4595755" y="6618"/>
                  </a:cubicBezTo>
                  <a:cubicBezTo>
                    <a:pt x="4599992" y="10855"/>
                    <a:pt x="4602373" y="16602"/>
                    <a:pt x="4602373" y="22595"/>
                  </a:cubicBezTo>
                  <a:lnTo>
                    <a:pt x="4602373" y="1589549"/>
                  </a:lnTo>
                  <a:cubicBezTo>
                    <a:pt x="4602373" y="1595541"/>
                    <a:pt x="4599992" y="1601288"/>
                    <a:pt x="4595755" y="1605526"/>
                  </a:cubicBezTo>
                  <a:cubicBezTo>
                    <a:pt x="4591517" y="1609763"/>
                    <a:pt x="4585770" y="1612144"/>
                    <a:pt x="4579778" y="1612144"/>
                  </a:cubicBezTo>
                  <a:lnTo>
                    <a:pt x="22595" y="1612144"/>
                  </a:lnTo>
                  <a:cubicBezTo>
                    <a:pt x="10116" y="1612144"/>
                    <a:pt x="0" y="1602028"/>
                    <a:pt x="0" y="1589549"/>
                  </a:cubicBezTo>
                  <a:lnTo>
                    <a:pt x="0" y="22595"/>
                  </a:lnTo>
                  <a:cubicBezTo>
                    <a:pt x="0" y="16602"/>
                    <a:pt x="2381" y="10855"/>
                    <a:pt x="6618" y="6618"/>
                  </a:cubicBezTo>
                  <a:cubicBezTo>
                    <a:pt x="10855" y="2381"/>
                    <a:pt x="16602" y="0"/>
                    <a:pt x="22595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33375"/>
              <a:ext cx="4602372" cy="1945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57733" y="3373730"/>
            <a:ext cx="16972534" cy="605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859"/>
              </a:lnSpc>
              <a:buFont typeface="Arial"/>
              <a:buChar char="•"/>
            </a:pPr>
            <a:r>
              <a:rPr lang="en-US" b="true" sz="2699" spc="64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</a:t>
            </a: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ation - 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Integrate Logic Apps or Power Automate to notify users when reports are ready</a:t>
            </a: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l" marL="582928" indent="-291464" lvl="1">
              <a:lnSpc>
                <a:spcPts val="4859"/>
              </a:lnSpc>
              <a:buFont typeface="Arial"/>
              <a:buChar char="•"/>
            </a:pP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arallel Processing - 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Use Azure Functions to process multiple PDF uploads simultaneously for faster throughput.</a:t>
            </a:r>
          </a:p>
          <a:p>
            <a:pPr algn="l" marL="582928" indent="-291464" lvl="1">
              <a:lnSpc>
                <a:spcPts val="4859"/>
              </a:lnSpc>
              <a:buFont typeface="Arial"/>
              <a:buChar char="•"/>
            </a:pP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Semantic </a:t>
            </a: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Comparison - 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Leverage Text Analytics for deeper understanding of content differences.</a:t>
            </a:r>
          </a:p>
          <a:p>
            <a:pPr algn="l" marL="582928" indent="-291464" lvl="1">
              <a:lnSpc>
                <a:spcPts val="4859"/>
              </a:lnSpc>
              <a:buFont typeface="Arial"/>
              <a:buChar char="•"/>
            </a:pP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Monit</a:t>
            </a: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oring &amp; Logging - 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Use Azure Monitor and Application Insights to track processing and handle errors efficiently.</a:t>
            </a:r>
          </a:p>
          <a:p>
            <a:pPr algn="l" marL="582928" indent="-291464" lvl="1">
              <a:lnSpc>
                <a:spcPts val="4859"/>
              </a:lnSpc>
              <a:buFont typeface="Arial"/>
              <a:buChar char="•"/>
            </a:pP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</a:t>
            </a:r>
            <a:r>
              <a:rPr lang="en-US" b="true" sz="2699" spc="64" u="none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Enhancements - </a:t>
            </a:r>
            <a:r>
              <a:rPr lang="en-US" sz="2699" spc="64" u="none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Consider integrating AI models to summarize PDF differences or classify document changes automatically.</a:t>
            </a:r>
          </a:p>
          <a:p>
            <a:pPr algn="l" marL="0" indent="0" lvl="0">
              <a:lnSpc>
                <a:spcPts val="4859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763046" y="821864"/>
            <a:ext cx="2030388" cy="2030388"/>
          </a:xfrm>
          <a:custGeom>
            <a:avLst/>
            <a:gdLst/>
            <a:ahLst/>
            <a:cxnLst/>
            <a:rect r="r" b="b" t="t" l="l"/>
            <a:pathLst>
              <a:path h="2030388" w="2030388">
                <a:moveTo>
                  <a:pt x="0" y="0"/>
                </a:moveTo>
                <a:lnTo>
                  <a:pt x="2030387" y="0"/>
                </a:lnTo>
                <a:lnTo>
                  <a:pt x="2030387" y="2030388"/>
                </a:lnTo>
                <a:lnTo>
                  <a:pt x="0" y="2030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3576" y="961388"/>
            <a:ext cx="17544695" cy="180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6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RECOMMENDATIONS FO</a:t>
            </a:r>
            <a:r>
              <a:rPr lang="en-US" sz="6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 IMPROVEMENTS &amp; SCALABILITY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16423" y="1702717"/>
            <a:ext cx="1027639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344434" y="2061261"/>
            <a:ext cx="13909144" cy="7411789"/>
            <a:chOff x="0" y="0"/>
            <a:chExt cx="3663314" cy="19520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63314" cy="1952076"/>
            </a:xfrm>
            <a:custGeom>
              <a:avLst/>
              <a:gdLst/>
              <a:ahLst/>
              <a:cxnLst/>
              <a:rect r="r" b="b" t="t" l="l"/>
              <a:pathLst>
                <a:path h="1952076" w="3663314">
                  <a:moveTo>
                    <a:pt x="28387" y="0"/>
                  </a:moveTo>
                  <a:lnTo>
                    <a:pt x="3634927" y="0"/>
                  </a:lnTo>
                  <a:cubicBezTo>
                    <a:pt x="3642455" y="0"/>
                    <a:pt x="3649676" y="2991"/>
                    <a:pt x="3654999" y="8314"/>
                  </a:cubicBezTo>
                  <a:cubicBezTo>
                    <a:pt x="3660323" y="13638"/>
                    <a:pt x="3663314" y="20858"/>
                    <a:pt x="3663314" y="28387"/>
                  </a:cubicBezTo>
                  <a:lnTo>
                    <a:pt x="3663314" y="1923689"/>
                  </a:lnTo>
                  <a:cubicBezTo>
                    <a:pt x="3663314" y="1939367"/>
                    <a:pt x="3650604" y="1952076"/>
                    <a:pt x="3634927" y="1952076"/>
                  </a:cubicBezTo>
                  <a:lnTo>
                    <a:pt x="28387" y="1952076"/>
                  </a:lnTo>
                  <a:cubicBezTo>
                    <a:pt x="12709" y="1952076"/>
                    <a:pt x="0" y="1939367"/>
                    <a:pt x="0" y="1923689"/>
                  </a:cubicBezTo>
                  <a:lnTo>
                    <a:pt x="0" y="28387"/>
                  </a:lnTo>
                  <a:cubicBezTo>
                    <a:pt x="0" y="12709"/>
                    <a:pt x="12709" y="0"/>
                    <a:pt x="28387" y="0"/>
                  </a:cubicBezTo>
                  <a:close/>
                </a:path>
              </a:pathLst>
            </a:custGeom>
            <a:solidFill>
              <a:srgbClr val="59819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33375"/>
              <a:ext cx="3663314" cy="2285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503507">
            <a:off x="15971842" y="1684952"/>
            <a:ext cx="12583451" cy="7382737"/>
            <a:chOff x="0" y="0"/>
            <a:chExt cx="3314160" cy="19444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3503507">
            <a:off x="-10878133" y="751583"/>
            <a:ext cx="12583451" cy="7382737"/>
            <a:chOff x="0" y="0"/>
            <a:chExt cx="3314160" cy="19444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14160" cy="1944425"/>
            </a:xfrm>
            <a:custGeom>
              <a:avLst/>
              <a:gdLst/>
              <a:ahLst/>
              <a:cxnLst/>
              <a:rect r="r" b="b" t="t" l="l"/>
              <a:pathLst>
                <a:path h="1944425" w="3314160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396434" y="2630202"/>
            <a:ext cx="12096993" cy="6063618"/>
          </a:xfrm>
          <a:custGeom>
            <a:avLst/>
            <a:gdLst/>
            <a:ahLst/>
            <a:cxnLst/>
            <a:rect r="r" b="b" t="t" l="l"/>
            <a:pathLst>
              <a:path h="6063618" w="12096993">
                <a:moveTo>
                  <a:pt x="0" y="0"/>
                </a:moveTo>
                <a:lnTo>
                  <a:pt x="12096993" y="0"/>
                </a:lnTo>
                <a:lnTo>
                  <a:pt x="12096993" y="6063618"/>
                </a:lnTo>
                <a:lnTo>
                  <a:pt x="0" y="6063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45400" y="314965"/>
            <a:ext cx="16786992" cy="122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b="true" sz="6800" spc="639">
                <a:solidFill>
                  <a:srgbClr val="598196"/>
                </a:solidFill>
                <a:latin typeface="Poppins Bold"/>
                <a:ea typeface="Poppins Bold"/>
                <a:cs typeface="Poppins Bold"/>
                <a:sym typeface="Poppins Bold"/>
              </a:rPr>
              <a:t>AZURE IMPLEMENTED WORK FLOW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209" y="1691369"/>
            <a:ext cx="9057268" cy="97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98196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  <p:grpSp>
        <p:nvGrpSpPr>
          <p:cNvPr name="Group 3" id="3"/>
          <p:cNvGrpSpPr/>
          <p:nvPr/>
        </p:nvGrpSpPr>
        <p:grpSpPr>
          <a:xfrm rot="-3503507">
            <a:off x="5380001" y="9454402"/>
            <a:ext cx="5068421" cy="1710448"/>
            <a:chOff x="0" y="0"/>
            <a:chExt cx="1334893" cy="450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4893" cy="450488"/>
            </a:xfrm>
            <a:custGeom>
              <a:avLst/>
              <a:gdLst/>
              <a:ahLst/>
              <a:cxnLst/>
              <a:rect r="r" b="b" t="t" l="l"/>
              <a:pathLst>
                <a:path h="450488" w="1334893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372587"/>
                  </a:lnTo>
                  <a:cubicBezTo>
                    <a:pt x="1334893" y="393248"/>
                    <a:pt x="1326685" y="413062"/>
                    <a:pt x="1312076" y="427672"/>
                  </a:cubicBezTo>
                  <a:cubicBezTo>
                    <a:pt x="1297467" y="442281"/>
                    <a:pt x="1277652" y="450488"/>
                    <a:pt x="1256991" y="450488"/>
                  </a:cubicBezTo>
                  <a:lnTo>
                    <a:pt x="77902" y="450488"/>
                  </a:lnTo>
                  <a:cubicBezTo>
                    <a:pt x="57241" y="450488"/>
                    <a:pt x="37426" y="442281"/>
                    <a:pt x="22817" y="427672"/>
                  </a:cubicBezTo>
                  <a:cubicBezTo>
                    <a:pt x="8207" y="413062"/>
                    <a:pt x="0" y="393248"/>
                    <a:pt x="0" y="372587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33375"/>
              <a:ext cx="1334893" cy="783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503507">
            <a:off x="551042" y="-1554003"/>
            <a:ext cx="5068421" cy="1710448"/>
            <a:chOff x="0" y="0"/>
            <a:chExt cx="1334893" cy="4504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4893" cy="450488"/>
            </a:xfrm>
            <a:custGeom>
              <a:avLst/>
              <a:gdLst/>
              <a:ahLst/>
              <a:cxnLst/>
              <a:rect r="r" b="b" t="t" l="l"/>
              <a:pathLst>
                <a:path h="450488" w="1334893">
                  <a:moveTo>
                    <a:pt x="77902" y="0"/>
                  </a:moveTo>
                  <a:lnTo>
                    <a:pt x="1256991" y="0"/>
                  </a:lnTo>
                  <a:cubicBezTo>
                    <a:pt x="1277652" y="0"/>
                    <a:pt x="1297467" y="8207"/>
                    <a:pt x="1312076" y="22817"/>
                  </a:cubicBezTo>
                  <a:cubicBezTo>
                    <a:pt x="1326685" y="37426"/>
                    <a:pt x="1334893" y="57241"/>
                    <a:pt x="1334893" y="77902"/>
                  </a:cubicBezTo>
                  <a:lnTo>
                    <a:pt x="1334893" y="372587"/>
                  </a:lnTo>
                  <a:cubicBezTo>
                    <a:pt x="1334893" y="393248"/>
                    <a:pt x="1326685" y="413062"/>
                    <a:pt x="1312076" y="427672"/>
                  </a:cubicBezTo>
                  <a:cubicBezTo>
                    <a:pt x="1297467" y="442281"/>
                    <a:pt x="1277652" y="450488"/>
                    <a:pt x="1256991" y="450488"/>
                  </a:cubicBezTo>
                  <a:lnTo>
                    <a:pt x="77902" y="450488"/>
                  </a:lnTo>
                  <a:cubicBezTo>
                    <a:pt x="57241" y="450488"/>
                    <a:pt x="37426" y="442281"/>
                    <a:pt x="22817" y="427672"/>
                  </a:cubicBezTo>
                  <a:cubicBezTo>
                    <a:pt x="8207" y="413062"/>
                    <a:pt x="0" y="393248"/>
                    <a:pt x="0" y="372587"/>
                  </a:cubicBezTo>
                  <a:lnTo>
                    <a:pt x="0" y="77902"/>
                  </a:lnTo>
                  <a:cubicBezTo>
                    <a:pt x="0" y="57241"/>
                    <a:pt x="8207" y="37426"/>
                    <a:pt x="22817" y="22817"/>
                  </a:cubicBezTo>
                  <a:cubicBezTo>
                    <a:pt x="37426" y="8207"/>
                    <a:pt x="57241" y="0"/>
                    <a:pt x="77902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1334893" cy="783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631378" y="2678487"/>
            <a:ext cx="10602143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535835" y="2964592"/>
            <a:ext cx="17216330" cy="6859294"/>
            <a:chOff x="0" y="0"/>
            <a:chExt cx="4534342" cy="18065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34342" cy="1806563"/>
            </a:xfrm>
            <a:custGeom>
              <a:avLst/>
              <a:gdLst/>
              <a:ahLst/>
              <a:cxnLst/>
              <a:rect r="r" b="b" t="t" l="l"/>
              <a:pathLst>
                <a:path h="1806563" w="4534342">
                  <a:moveTo>
                    <a:pt x="22934" y="0"/>
                  </a:moveTo>
                  <a:lnTo>
                    <a:pt x="4511408" y="0"/>
                  </a:lnTo>
                  <a:cubicBezTo>
                    <a:pt x="4517491" y="0"/>
                    <a:pt x="4523324" y="2416"/>
                    <a:pt x="4527625" y="6717"/>
                  </a:cubicBezTo>
                  <a:cubicBezTo>
                    <a:pt x="4531926" y="11018"/>
                    <a:pt x="4534342" y="16851"/>
                    <a:pt x="4534342" y="22934"/>
                  </a:cubicBezTo>
                  <a:lnTo>
                    <a:pt x="4534342" y="1783629"/>
                  </a:lnTo>
                  <a:cubicBezTo>
                    <a:pt x="4534342" y="1796295"/>
                    <a:pt x="4524074" y="1806563"/>
                    <a:pt x="4511408" y="1806563"/>
                  </a:cubicBezTo>
                  <a:lnTo>
                    <a:pt x="22934" y="1806563"/>
                  </a:lnTo>
                  <a:cubicBezTo>
                    <a:pt x="16851" y="1806563"/>
                    <a:pt x="11018" y="1804147"/>
                    <a:pt x="6717" y="1799846"/>
                  </a:cubicBezTo>
                  <a:cubicBezTo>
                    <a:pt x="2416" y="1795545"/>
                    <a:pt x="0" y="1789712"/>
                    <a:pt x="0" y="1783629"/>
                  </a:cubicBezTo>
                  <a:lnTo>
                    <a:pt x="0" y="22934"/>
                  </a:lnTo>
                  <a:cubicBezTo>
                    <a:pt x="0" y="16851"/>
                    <a:pt x="2416" y="11018"/>
                    <a:pt x="6717" y="6717"/>
                  </a:cubicBezTo>
                  <a:cubicBezTo>
                    <a:pt x="11018" y="2416"/>
                    <a:pt x="16851" y="0"/>
                    <a:pt x="22934" y="0"/>
                  </a:cubicBezTo>
                  <a:close/>
                </a:path>
              </a:pathLst>
            </a:custGeom>
            <a:solidFill>
              <a:srgbClr val="C3E0E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33375"/>
              <a:ext cx="4534342" cy="21399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79631" y="3176976"/>
            <a:ext cx="16972534" cy="676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4140"/>
              </a:lnSpc>
              <a:buAutoNum type="arabicPeriod" startAt="1"/>
            </a:pPr>
            <a:r>
              <a:rPr lang="en-US" sz="2300" spc="55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</a:rPr>
              <a:t>Microsoft. Azure AI Services Overview. Microsoft Learn. - </a:t>
            </a:r>
            <a:r>
              <a:rPr lang="en-US" sz="2300" spc="55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</a:rPr>
              <a:t>Available at: </a:t>
            </a:r>
            <a:r>
              <a:rPr lang="en-US" sz="2300" spc="55" u="sng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learn.microsoft.com/en-us/azure/ai-services/what-are-ai-services?utm_source=chatgpt.com"/>
              </a:rPr>
              <a:t>https://learn.microsoft.com/en-us/azure/ai-services/what-are-ai-services</a:t>
            </a:r>
          </a:p>
          <a:p>
            <a:pPr algn="l" marL="496571" indent="-248285" lvl="1">
              <a:lnSpc>
                <a:spcPts val="4140"/>
              </a:lnSpc>
              <a:buAutoNum type="arabicPeriod" startAt="1"/>
            </a:pPr>
            <a:r>
              <a:rPr lang="en-US" sz="2300" spc="55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</a:rPr>
              <a:t>Microsoft. Azure AI Document Intelligence (Form Recognizer). Microsoft Learn. - Available at: </a:t>
            </a:r>
            <a:r>
              <a:rPr lang="en-US" sz="2300" spc="55" u="sng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learn.microsoft.com/en-us/azure/ai-services/document-intelligence"/>
              </a:rPr>
              <a:t>https://learn.microsoft.com/en-us/azure/ai-services/document-intelligence</a:t>
            </a:r>
          </a:p>
          <a:p>
            <a:pPr algn="l" marL="496571" indent="-248285" lvl="1">
              <a:lnSpc>
                <a:spcPts val="4140"/>
              </a:lnSpc>
              <a:buAutoNum type="arabicPeriod" startAt="1"/>
            </a:pPr>
            <a:r>
              <a:rPr lang="en-US" sz="2300" spc="55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</a:rPr>
              <a:t>Microsoft. Azure Blob Storage. Microsoft Learn. - Available at: </a:t>
            </a:r>
            <a:r>
              <a:rPr lang="en-US" sz="2300" spc="55" u="sng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learn.microsoft.com/en-us/azure/storage/blobs"/>
              </a:rPr>
              <a:t>https://learn.microsoft.com/en-us/azure/storage/blobs</a:t>
            </a:r>
          </a:p>
          <a:p>
            <a:pPr algn="l" marL="496571" indent="-248285" lvl="1">
              <a:lnSpc>
                <a:spcPts val="4140"/>
              </a:lnSpc>
              <a:buAutoNum type="arabicPeriod" startAt="1"/>
            </a:pPr>
            <a:r>
              <a:rPr lang="en-US" sz="2300" spc="55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</a:rPr>
              <a:t>Microsoft. Azure Functions. Microsoft Learn. -  Available at: </a:t>
            </a:r>
            <a:r>
              <a:rPr lang="en-US" sz="2300" spc="55" u="sng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learn.microsoft.com/en-us/azure/azure-functions"/>
              </a:rPr>
              <a:t>https://learn.microsoft.com/en-us/azure/azure-functions</a:t>
            </a:r>
          </a:p>
          <a:p>
            <a:pPr algn="l" marL="496571" indent="-248285" lvl="1">
              <a:lnSpc>
                <a:spcPts val="4140"/>
              </a:lnSpc>
              <a:buAutoNum type="arabicPeriod" startAt="1"/>
            </a:pPr>
            <a:r>
              <a:rPr lang="en-US" sz="2300" spc="55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</a:rPr>
              <a:t>Microsoft. Azure Text Analytics. Microsoft Learn. - Available at: </a:t>
            </a:r>
            <a:r>
              <a:rPr lang="en-US" sz="2300" spc="55" u="sng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  <a:hlinkClick r:id="rId6" tooltip="https://learn.microsoft.com/en-us/azure/ai-services/text-analytics"/>
              </a:rPr>
              <a:t>https://learn.microsoft.com/en-us/azure/ai-services/text-analytics</a:t>
            </a:r>
          </a:p>
          <a:p>
            <a:pPr algn="l" marL="496571" indent="-248285" lvl="1">
              <a:lnSpc>
                <a:spcPts val="4140"/>
              </a:lnSpc>
              <a:buAutoNum type="arabicPeriod" startAt="1"/>
            </a:pPr>
            <a:r>
              <a:rPr lang="en-US" sz="2300" spc="55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</a:rPr>
              <a:t>Microsoft. Azure Computer Vision. Microsoft Learn. - Available at: </a:t>
            </a:r>
            <a:r>
              <a:rPr lang="en-US" sz="2300" spc="55" u="sng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learn.microsoft.com/en-us/azure/ai-services/computer-vision"/>
              </a:rPr>
              <a:t>Autom</a:t>
            </a:r>
            <a:r>
              <a:rPr lang="en-US" sz="2300" spc="55" u="sng">
                <a:solidFill>
                  <a:srgbClr val="0F0F11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learn.microsoft.com/en-us/azure/ai-services/computer-vision"/>
              </a:rPr>
              <a:t>ation: Integrate Logic Apps or Power Automate to notify users when reports are ready.</a:t>
            </a:r>
          </a:p>
          <a:p>
            <a:pPr algn="l" marL="0" indent="0" lvl="0">
              <a:lnSpc>
                <a:spcPts val="414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59448" y="3925518"/>
            <a:ext cx="11807265" cy="310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7800">
                <a:solidFill>
                  <a:srgbClr val="0F0F11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QUESTIONS?</a:t>
            </a:r>
          </a:p>
          <a:p>
            <a:pPr algn="ctr">
              <a:lnSpc>
                <a:spcPts val="7800"/>
              </a:lnSpc>
            </a:pPr>
            <a:r>
              <a:rPr lang="en-US" b="true" sz="7800">
                <a:solidFill>
                  <a:srgbClr val="598196"/>
                </a:solidFill>
                <a:latin typeface="Poppins Bold"/>
                <a:ea typeface="Poppins Bold"/>
                <a:cs typeface="Poppins Bold"/>
                <a:sym typeface="Poppins Bold"/>
              </a:rPr>
              <a:t> THANK YOU FOR YOUR TIME AND ATTENTION.</a:t>
            </a:r>
          </a:p>
        </p:txBody>
      </p:sp>
      <p:grpSp>
        <p:nvGrpSpPr>
          <p:cNvPr name="Group 3" id="3"/>
          <p:cNvGrpSpPr/>
          <p:nvPr/>
        </p:nvGrpSpPr>
        <p:grpSpPr>
          <a:xfrm rot="-3503507">
            <a:off x="-2356457" y="6564794"/>
            <a:ext cx="5968439" cy="2484763"/>
            <a:chOff x="0" y="0"/>
            <a:chExt cx="1571935" cy="6544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71935" cy="654423"/>
            </a:xfrm>
            <a:custGeom>
              <a:avLst/>
              <a:gdLst/>
              <a:ahLst/>
              <a:cxnLst/>
              <a:rect r="r" b="b" t="t" l="l"/>
              <a:pathLst>
                <a:path h="654423" w="1571935">
                  <a:moveTo>
                    <a:pt x="66154" y="0"/>
                  </a:moveTo>
                  <a:lnTo>
                    <a:pt x="1505780" y="0"/>
                  </a:lnTo>
                  <a:cubicBezTo>
                    <a:pt x="1523326" y="0"/>
                    <a:pt x="1540152" y="6970"/>
                    <a:pt x="1552558" y="19376"/>
                  </a:cubicBezTo>
                  <a:cubicBezTo>
                    <a:pt x="1564965" y="31782"/>
                    <a:pt x="1571935" y="48609"/>
                    <a:pt x="1571935" y="66154"/>
                  </a:cubicBezTo>
                  <a:lnTo>
                    <a:pt x="1571935" y="588269"/>
                  </a:lnTo>
                  <a:cubicBezTo>
                    <a:pt x="1571935" y="624805"/>
                    <a:pt x="1542316" y="654423"/>
                    <a:pt x="1505780" y="654423"/>
                  </a:cubicBezTo>
                  <a:lnTo>
                    <a:pt x="66154" y="654423"/>
                  </a:lnTo>
                  <a:cubicBezTo>
                    <a:pt x="29618" y="654423"/>
                    <a:pt x="0" y="624805"/>
                    <a:pt x="0" y="588269"/>
                  </a:cubicBezTo>
                  <a:lnTo>
                    <a:pt x="0" y="66154"/>
                  </a:lnTo>
                  <a:cubicBezTo>
                    <a:pt x="0" y="29618"/>
                    <a:pt x="29618" y="0"/>
                    <a:pt x="66154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33375"/>
              <a:ext cx="1571935" cy="9877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503507">
            <a:off x="14958997" y="1874234"/>
            <a:ext cx="6145518" cy="2741564"/>
            <a:chOff x="0" y="0"/>
            <a:chExt cx="1618573" cy="7220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8573" cy="722058"/>
            </a:xfrm>
            <a:custGeom>
              <a:avLst/>
              <a:gdLst/>
              <a:ahLst/>
              <a:cxnLst/>
              <a:rect r="r" b="b" t="t" l="l"/>
              <a:pathLst>
                <a:path h="722058" w="1618573">
                  <a:moveTo>
                    <a:pt x="64248" y="0"/>
                  </a:moveTo>
                  <a:lnTo>
                    <a:pt x="1554325" y="0"/>
                  </a:lnTo>
                  <a:cubicBezTo>
                    <a:pt x="1571364" y="0"/>
                    <a:pt x="1587706" y="6769"/>
                    <a:pt x="1599755" y="18818"/>
                  </a:cubicBezTo>
                  <a:cubicBezTo>
                    <a:pt x="1611804" y="30867"/>
                    <a:pt x="1618573" y="47208"/>
                    <a:pt x="1618573" y="64248"/>
                  </a:cubicBezTo>
                  <a:lnTo>
                    <a:pt x="1618573" y="657810"/>
                  </a:lnTo>
                  <a:cubicBezTo>
                    <a:pt x="1618573" y="674850"/>
                    <a:pt x="1611804" y="691191"/>
                    <a:pt x="1599755" y="703240"/>
                  </a:cubicBezTo>
                  <a:cubicBezTo>
                    <a:pt x="1587706" y="715289"/>
                    <a:pt x="1571364" y="722058"/>
                    <a:pt x="1554325" y="722058"/>
                  </a:cubicBezTo>
                  <a:lnTo>
                    <a:pt x="64248" y="722058"/>
                  </a:lnTo>
                  <a:cubicBezTo>
                    <a:pt x="47208" y="722058"/>
                    <a:pt x="30867" y="715289"/>
                    <a:pt x="18818" y="703240"/>
                  </a:cubicBezTo>
                  <a:cubicBezTo>
                    <a:pt x="6769" y="691191"/>
                    <a:pt x="0" y="674850"/>
                    <a:pt x="0" y="657810"/>
                  </a:cubicBezTo>
                  <a:lnTo>
                    <a:pt x="0" y="64248"/>
                  </a:lnTo>
                  <a:cubicBezTo>
                    <a:pt x="0" y="47208"/>
                    <a:pt x="6769" y="30867"/>
                    <a:pt x="18818" y="18818"/>
                  </a:cubicBezTo>
                  <a:cubicBezTo>
                    <a:pt x="30867" y="6769"/>
                    <a:pt x="47208" y="0"/>
                    <a:pt x="64248" y="0"/>
                  </a:cubicBezTo>
                  <a:close/>
                </a:path>
              </a:pathLst>
            </a:custGeom>
            <a:solidFill>
              <a:srgbClr val="D5EFE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33375"/>
              <a:ext cx="1618573" cy="105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4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DAG3b7UzwgY</dc:identifier>
  <dcterms:modified xsi:type="dcterms:W3CDTF">2011-08-01T06:04:30Z</dcterms:modified>
  <cp:revision>1</cp:revision>
  <dc:title>Red &amp; White Geometric Bold Simple Company Profile Presentation</dc:title>
</cp:coreProperties>
</file>